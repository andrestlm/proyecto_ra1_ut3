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4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48651" y="3234884"/>
            <a:ext cx="12625598" cy="12625598"/>
          </a:xfrm>
          <a:custGeom>
            <a:avLst/>
            <a:gdLst/>
            <a:ahLst/>
            <a:cxnLst/>
            <a:rect l="l" t="t" r="r" b="b"/>
            <a:pathLst>
              <a:path w="12625598" h="12625598">
                <a:moveTo>
                  <a:pt x="0" y="0"/>
                </a:moveTo>
                <a:lnTo>
                  <a:pt x="12625598" y="0"/>
                </a:lnTo>
                <a:lnTo>
                  <a:pt x="12625598" y="12625598"/>
                </a:lnTo>
                <a:lnTo>
                  <a:pt x="0" y="12625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993050" y="3234884"/>
            <a:ext cx="12625598" cy="12625598"/>
          </a:xfrm>
          <a:custGeom>
            <a:avLst/>
            <a:gdLst/>
            <a:ahLst/>
            <a:cxnLst/>
            <a:rect l="l" t="t" r="r" b="b"/>
            <a:pathLst>
              <a:path w="12625598" h="12625598">
                <a:moveTo>
                  <a:pt x="0" y="0"/>
                </a:moveTo>
                <a:lnTo>
                  <a:pt x="12625598" y="0"/>
                </a:lnTo>
                <a:lnTo>
                  <a:pt x="12625598" y="12625598"/>
                </a:lnTo>
                <a:lnTo>
                  <a:pt x="0" y="12625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152272" y="-5807257"/>
            <a:ext cx="12625598" cy="12625598"/>
          </a:xfrm>
          <a:custGeom>
            <a:avLst/>
            <a:gdLst/>
            <a:ahLst/>
            <a:cxnLst/>
            <a:rect l="l" t="t" r="r" b="b"/>
            <a:pathLst>
              <a:path w="12625598" h="12625598">
                <a:moveTo>
                  <a:pt x="0" y="0"/>
                </a:moveTo>
                <a:lnTo>
                  <a:pt x="12625598" y="0"/>
                </a:lnTo>
                <a:lnTo>
                  <a:pt x="12625598" y="12625598"/>
                </a:lnTo>
                <a:lnTo>
                  <a:pt x="0" y="12625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152272" y="-5845357"/>
            <a:ext cx="12625598" cy="12625598"/>
          </a:xfrm>
          <a:custGeom>
            <a:avLst/>
            <a:gdLst/>
            <a:ahLst/>
            <a:cxnLst/>
            <a:rect l="l" t="t" r="r" b="b"/>
            <a:pathLst>
              <a:path w="12625598" h="12625598">
                <a:moveTo>
                  <a:pt x="0" y="0"/>
                </a:moveTo>
                <a:lnTo>
                  <a:pt x="12625598" y="0"/>
                </a:lnTo>
                <a:lnTo>
                  <a:pt x="12625598" y="12625598"/>
                </a:lnTo>
                <a:lnTo>
                  <a:pt x="0" y="12625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762861" y="7255463"/>
            <a:ext cx="4584441" cy="458444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gradFill>
                <a:gsLst>
                  <a:gs pos="0">
                    <a:srgbClr val="7AFFE6">
                      <a:alpha val="100000"/>
                    </a:srgbClr>
                  </a:gs>
                  <a:gs pos="33333">
                    <a:srgbClr val="3A8B7E">
                      <a:alpha val="100000"/>
                    </a:srgbClr>
                  </a:gs>
                  <a:gs pos="66667">
                    <a:srgbClr val="131416">
                      <a:alpha val="100000"/>
                    </a:srgbClr>
                  </a:gs>
                  <a:gs pos="100000">
                    <a:srgbClr val="131416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276502">
            <a:off x="15172850" y="-1786679"/>
            <a:ext cx="4584441" cy="458444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gradFill>
                <a:gsLst>
                  <a:gs pos="0">
                    <a:srgbClr val="0098CF">
                      <a:alpha val="100000"/>
                    </a:srgbClr>
                  </a:gs>
                  <a:gs pos="50000">
                    <a:srgbClr val="6171BB">
                      <a:alpha val="100000"/>
                    </a:srgbClr>
                  </a:gs>
                  <a:gs pos="100000">
                    <a:srgbClr val="E6EB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10767060" y="8794622"/>
            <a:ext cx="6492240" cy="0"/>
          </a:xfrm>
          <a:prstGeom prst="line">
            <a:avLst/>
          </a:prstGeom>
          <a:ln w="95250" cap="flat">
            <a:gradFill>
              <a:gsLst>
                <a:gs pos="0">
                  <a:srgbClr val="ED47E6">
                    <a:alpha val="100000"/>
                  </a:srgbClr>
                </a:gs>
                <a:gs pos="50000">
                  <a:srgbClr val="FD5EA5">
                    <a:alpha val="100000"/>
                  </a:srgbClr>
                </a:gs>
                <a:gs pos="100000">
                  <a:srgbClr val="FFAED2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>
            <a:off x="1564148" y="6598219"/>
            <a:ext cx="2471105" cy="2471105"/>
          </a:xfrm>
          <a:custGeom>
            <a:avLst/>
            <a:gdLst/>
            <a:ahLst/>
            <a:cxnLst/>
            <a:rect l="l" t="t" r="r" b="b"/>
            <a:pathLst>
              <a:path w="2471105" h="2471105">
                <a:moveTo>
                  <a:pt x="0" y="0"/>
                </a:moveTo>
                <a:lnTo>
                  <a:pt x="2471104" y="0"/>
                </a:lnTo>
                <a:lnTo>
                  <a:pt x="2471104" y="2471104"/>
                </a:lnTo>
                <a:lnTo>
                  <a:pt x="0" y="24711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529360" y="2199809"/>
            <a:ext cx="9813429" cy="3502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14"/>
              </a:lnSpc>
            </a:pPr>
            <a:r>
              <a:rPr lang="en-US" sz="15016" b="1" spc="-946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Reto - PC oficina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29360" y="1658160"/>
            <a:ext cx="5523118" cy="311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2503" spc="72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ATLM - GRUPO 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36182" y="8947022"/>
            <a:ext cx="5523118" cy="311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02"/>
              </a:lnSpc>
            </a:pPr>
            <a:r>
              <a:rPr lang="en-US" sz="2503" spc="72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Fundamentos de hardware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87784" y="8383684"/>
            <a:ext cx="5152466" cy="487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43"/>
              </a:lnSpc>
            </a:pPr>
            <a:r>
              <a:rPr lang="en-US" sz="2003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1º ASIR</a:t>
            </a:r>
          </a:p>
          <a:p>
            <a:pPr algn="r">
              <a:lnSpc>
                <a:spcPts val="1943"/>
              </a:lnSpc>
            </a:pPr>
            <a:endParaRPr lang="en-US" sz="2003">
              <a:solidFill>
                <a:srgbClr val="FFFFFF"/>
              </a:solidFill>
              <a:latin typeface="Arial Unicode"/>
              <a:ea typeface="Arial Unicode"/>
              <a:cs typeface="Arial Unicode"/>
              <a:sym typeface="Arial Unicode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106834" y="7443850"/>
            <a:ext cx="5152466" cy="725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43"/>
              </a:lnSpc>
            </a:pPr>
            <a:r>
              <a:rPr lang="en-US" sz="2003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Consiste en encontrar piezas para un PC de ofiicina economico y una alternativa en forma de mini PC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3704" y="6149650"/>
            <a:ext cx="3378642" cy="311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02"/>
              </a:lnSpc>
            </a:pPr>
            <a:r>
              <a:rPr lang="en-US" sz="2503" spc="72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GitHub Proyecto UT3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330606">
            <a:off x="3614838" y="-741782"/>
            <a:ext cx="26421496" cy="7926449"/>
          </a:xfrm>
          <a:custGeom>
            <a:avLst/>
            <a:gdLst/>
            <a:ahLst/>
            <a:cxnLst/>
            <a:rect l="l" t="t" r="r" b="b"/>
            <a:pathLst>
              <a:path w="26421496" h="7926449">
                <a:moveTo>
                  <a:pt x="0" y="0"/>
                </a:moveTo>
                <a:lnTo>
                  <a:pt x="26421497" y="0"/>
                </a:lnTo>
                <a:lnTo>
                  <a:pt x="26421497" y="7926449"/>
                </a:lnTo>
                <a:lnTo>
                  <a:pt x="0" y="79264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607633" y="1991845"/>
            <a:ext cx="4850352" cy="6863090"/>
            <a:chOff x="0" y="0"/>
            <a:chExt cx="1277459" cy="18075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77459" cy="1807563"/>
            </a:xfrm>
            <a:custGeom>
              <a:avLst/>
              <a:gdLst/>
              <a:ahLst/>
              <a:cxnLst/>
              <a:rect l="l" t="t" r="r" b="b"/>
              <a:pathLst>
                <a:path w="1277459" h="1807563">
                  <a:moveTo>
                    <a:pt x="81404" y="0"/>
                  </a:moveTo>
                  <a:lnTo>
                    <a:pt x="1196055" y="0"/>
                  </a:lnTo>
                  <a:cubicBezTo>
                    <a:pt x="1217645" y="0"/>
                    <a:pt x="1238350" y="8576"/>
                    <a:pt x="1253616" y="23843"/>
                  </a:cubicBezTo>
                  <a:cubicBezTo>
                    <a:pt x="1268882" y="39109"/>
                    <a:pt x="1277459" y="59814"/>
                    <a:pt x="1277459" y="81404"/>
                  </a:cubicBezTo>
                  <a:lnTo>
                    <a:pt x="1277459" y="1726159"/>
                  </a:lnTo>
                  <a:cubicBezTo>
                    <a:pt x="1277459" y="1747748"/>
                    <a:pt x="1268882" y="1768454"/>
                    <a:pt x="1253616" y="1783720"/>
                  </a:cubicBezTo>
                  <a:cubicBezTo>
                    <a:pt x="1238350" y="1798986"/>
                    <a:pt x="1217645" y="1807563"/>
                    <a:pt x="1196055" y="1807563"/>
                  </a:cubicBezTo>
                  <a:lnTo>
                    <a:pt x="81404" y="1807563"/>
                  </a:lnTo>
                  <a:cubicBezTo>
                    <a:pt x="36446" y="1807563"/>
                    <a:pt x="0" y="1771117"/>
                    <a:pt x="0" y="1726159"/>
                  </a:cubicBezTo>
                  <a:lnTo>
                    <a:pt x="0" y="81404"/>
                  </a:lnTo>
                  <a:cubicBezTo>
                    <a:pt x="0" y="59814"/>
                    <a:pt x="8576" y="39109"/>
                    <a:pt x="23843" y="23843"/>
                  </a:cubicBezTo>
                  <a:cubicBezTo>
                    <a:pt x="39109" y="8576"/>
                    <a:pt x="59814" y="0"/>
                    <a:pt x="814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56366">
                    <a:alpha val="100000"/>
                  </a:srgbClr>
                </a:gs>
                <a:gs pos="50000">
                  <a:srgbClr val="131416">
                    <a:alpha val="100000"/>
                  </a:srgbClr>
                </a:gs>
                <a:gs pos="100000">
                  <a:srgbClr val="13141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77459" cy="1845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926012" y="2304618"/>
            <a:ext cx="4239784" cy="6252956"/>
            <a:chOff x="0" y="0"/>
            <a:chExt cx="656853" cy="9687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56853" cy="968746"/>
            </a:xfrm>
            <a:custGeom>
              <a:avLst/>
              <a:gdLst/>
              <a:ahLst/>
              <a:cxnLst/>
              <a:rect l="l" t="t" r="r" b="b"/>
              <a:pathLst>
                <a:path w="656853" h="968746">
                  <a:moveTo>
                    <a:pt x="41998" y="0"/>
                  </a:moveTo>
                  <a:lnTo>
                    <a:pt x="614855" y="0"/>
                  </a:lnTo>
                  <a:cubicBezTo>
                    <a:pt x="625994" y="0"/>
                    <a:pt x="636676" y="4425"/>
                    <a:pt x="644552" y="12301"/>
                  </a:cubicBezTo>
                  <a:cubicBezTo>
                    <a:pt x="652429" y="20177"/>
                    <a:pt x="656853" y="30860"/>
                    <a:pt x="656853" y="41998"/>
                  </a:cubicBezTo>
                  <a:lnTo>
                    <a:pt x="656853" y="926748"/>
                  </a:lnTo>
                  <a:cubicBezTo>
                    <a:pt x="656853" y="949943"/>
                    <a:pt x="638050" y="968746"/>
                    <a:pt x="614855" y="968746"/>
                  </a:cubicBezTo>
                  <a:lnTo>
                    <a:pt x="41998" y="968746"/>
                  </a:lnTo>
                  <a:cubicBezTo>
                    <a:pt x="18803" y="968746"/>
                    <a:pt x="0" y="949943"/>
                    <a:pt x="0" y="926748"/>
                  </a:cubicBezTo>
                  <a:lnTo>
                    <a:pt x="0" y="41998"/>
                  </a:lnTo>
                  <a:cubicBezTo>
                    <a:pt x="0" y="18803"/>
                    <a:pt x="18803" y="0"/>
                    <a:pt x="41998" y="0"/>
                  </a:cubicBezTo>
                  <a:close/>
                </a:path>
              </a:pathLst>
            </a:custGeom>
            <a:blipFill>
              <a:blip r:embed="rId4"/>
              <a:stretch>
                <a:fillRect t="-885" b="-88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529360" y="2095034"/>
            <a:ext cx="7333825" cy="2683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b="1" spc="-725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Objetivo y requisitos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16442" y="5714841"/>
            <a:ext cx="6838944" cy="208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31"/>
              </a:lnSpc>
            </a:pPr>
            <a:r>
              <a:rPr lang="en-US" sz="2403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Se prioriza una elección de componentes de bajo precio pero con un rendimiento decente. Buscando la compatibilidad de estos y la posibilidad de mejorarlos actualizando a componentes mejores. También debe ser duradero y estable. Sin GPU dedicada para ahorrar costes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5912" y="-369737"/>
            <a:ext cx="6510323" cy="11026475"/>
            <a:chOff x="0" y="0"/>
            <a:chExt cx="8680431" cy="14701966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8680431" cy="14701966"/>
            </a:xfrm>
            <a:prstGeom prst="rect">
              <a:avLst/>
            </a:prstGeom>
            <a:gradFill rotWithShape="1">
              <a:gsLst>
                <a:gs pos="0">
                  <a:srgbClr val="ED47E6">
                    <a:alpha val="100000"/>
                  </a:srgbClr>
                </a:gs>
                <a:gs pos="50000">
                  <a:srgbClr val="FD5EA5">
                    <a:alpha val="100000"/>
                  </a:srgbClr>
                </a:gs>
                <a:gs pos="100000">
                  <a:srgbClr val="FFAED2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-3601780" y="2275534"/>
            <a:ext cx="11850641" cy="6797384"/>
            <a:chOff x="0" y="0"/>
            <a:chExt cx="7981950" cy="4578350"/>
          </a:xfrm>
        </p:grpSpPr>
        <p:sp>
          <p:nvSpPr>
            <p:cNvPr id="5" name="Freeform 5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l="l" t="t" r="r" b="b"/>
              <a:pathLst>
                <a:path w="6055360" h="378968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2"/>
              <a:stretch>
                <a:fillRect t="-27510" b="-32274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4412249" y="1028437"/>
            <a:ext cx="2847051" cy="2885227"/>
          </a:xfrm>
          <a:custGeom>
            <a:avLst/>
            <a:gdLst/>
            <a:ahLst/>
            <a:cxnLst/>
            <a:rect l="l" t="t" r="r" b="b"/>
            <a:pathLst>
              <a:path w="2847051" h="2885227">
                <a:moveTo>
                  <a:pt x="0" y="0"/>
                </a:moveTo>
                <a:lnTo>
                  <a:pt x="2847051" y="0"/>
                </a:lnTo>
                <a:lnTo>
                  <a:pt x="2847051" y="2885227"/>
                </a:lnTo>
                <a:lnTo>
                  <a:pt x="0" y="2885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40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248861" y="1868765"/>
            <a:ext cx="5055339" cy="720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6000" b="1" spc="-378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CPU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48861" y="3136126"/>
            <a:ext cx="7664273" cy="37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2803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AMD Ryzen 5 3400G (Socket AM4)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48861" y="5325097"/>
            <a:ext cx="3036124" cy="43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3164" lvl="1" indent="-386582" algn="l">
              <a:lnSpc>
                <a:spcPts val="3151"/>
              </a:lnSpc>
              <a:buFont typeface="Arial"/>
              <a:buChar char="•"/>
            </a:pPr>
            <a:r>
              <a:rPr lang="en-US" sz="3581" b="1" spc="-225">
                <a:solidFill>
                  <a:srgbClr val="FF8EDA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¿Por qué?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60462" y="5827396"/>
            <a:ext cx="3220536" cy="28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2803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Es un buen procesador con su precio, con graficos integrados, disipador incluido y bajo cosumo. Con 4 Núcleos / 8 Hilos a 3.7 GHz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59735" y="5429766"/>
            <a:ext cx="4105029" cy="43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3164" lvl="1" indent="-386582" algn="l">
              <a:lnSpc>
                <a:spcPts val="3151"/>
              </a:lnSpc>
              <a:buFont typeface="Arial"/>
              <a:buChar char="•"/>
            </a:pPr>
            <a:r>
              <a:rPr lang="en-US" sz="3581" b="1" spc="-225">
                <a:solidFill>
                  <a:srgbClr val="A5F7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Compatibilidad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690597" y="5932065"/>
            <a:ext cx="3501274" cy="21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3"/>
              </a:lnSpc>
            </a:pPr>
            <a:r>
              <a:rPr lang="en-US" sz="2803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Encaja en el socket AM4 de la placa y el chipset soporta a la CPU. La PSU tiene potencia de sobra para alimentarlo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48861" y="3674753"/>
            <a:ext cx="7664273" cy="636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3"/>
              </a:lnSpc>
            </a:pPr>
            <a:r>
              <a:rPr lang="en-US" sz="4803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69,50 €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47305" y="8247276"/>
            <a:ext cx="22336141" cy="4079448"/>
            <a:chOff x="0" y="0"/>
            <a:chExt cx="29781522" cy="54392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90761" cy="5439264"/>
            </a:xfrm>
            <a:custGeom>
              <a:avLst/>
              <a:gdLst/>
              <a:ahLst/>
              <a:cxnLst/>
              <a:rect l="l" t="t" r="r" b="b"/>
              <a:pathLst>
                <a:path w="14890761" h="5439264">
                  <a:moveTo>
                    <a:pt x="0" y="0"/>
                  </a:moveTo>
                  <a:lnTo>
                    <a:pt x="14890761" y="0"/>
                  </a:lnTo>
                  <a:lnTo>
                    <a:pt x="14890761" y="5439264"/>
                  </a:lnTo>
                  <a:lnTo>
                    <a:pt x="0" y="5439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flipH="1">
              <a:off x="14890761" y="0"/>
              <a:ext cx="14890761" cy="5439264"/>
            </a:xfrm>
            <a:custGeom>
              <a:avLst/>
              <a:gdLst/>
              <a:ahLst/>
              <a:cxnLst/>
              <a:rect l="l" t="t" r="r" b="b"/>
              <a:pathLst>
                <a:path w="14890761" h="5439264">
                  <a:moveTo>
                    <a:pt x="14890761" y="0"/>
                  </a:moveTo>
                  <a:lnTo>
                    <a:pt x="0" y="0"/>
                  </a:lnTo>
                  <a:lnTo>
                    <a:pt x="0" y="5439264"/>
                  </a:lnTo>
                  <a:lnTo>
                    <a:pt x="14890761" y="5439264"/>
                  </a:lnTo>
                  <a:lnTo>
                    <a:pt x="14890761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492010" y="0"/>
            <a:ext cx="6489398" cy="648939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104775" cap="sq">
              <a:gradFill>
                <a:gsLst>
                  <a:gs pos="0">
                    <a:srgbClr val="7B67F0">
                      <a:alpha val="100000"/>
                    </a:srgbClr>
                  </a:gs>
                  <a:gs pos="50000">
                    <a:srgbClr val="FFAFFF">
                      <a:alpha val="100000"/>
                    </a:srgbClr>
                  </a:gs>
                  <a:gs pos="100000">
                    <a:srgbClr val="AFEE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id="7" name="Freeform 7"/>
          <p:cNvSpPr/>
          <p:nvPr/>
        </p:nvSpPr>
        <p:spPr>
          <a:xfrm>
            <a:off x="-3087806" y="-3284285"/>
            <a:ext cx="5307428" cy="5487003"/>
          </a:xfrm>
          <a:custGeom>
            <a:avLst/>
            <a:gdLst/>
            <a:ahLst/>
            <a:cxnLst/>
            <a:rect l="l" t="t" r="r" b="b"/>
            <a:pathLst>
              <a:path w="5307428" h="5487003">
                <a:moveTo>
                  <a:pt x="0" y="0"/>
                </a:moveTo>
                <a:lnTo>
                  <a:pt x="5307428" y="0"/>
                </a:lnTo>
                <a:lnTo>
                  <a:pt x="5307428" y="5487003"/>
                </a:lnTo>
                <a:lnTo>
                  <a:pt x="0" y="5487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981408" y="8021271"/>
            <a:ext cx="5307428" cy="5487003"/>
          </a:xfrm>
          <a:custGeom>
            <a:avLst/>
            <a:gdLst/>
            <a:ahLst/>
            <a:cxnLst/>
            <a:rect l="l" t="t" r="r" b="b"/>
            <a:pathLst>
              <a:path w="5307428" h="5487003">
                <a:moveTo>
                  <a:pt x="0" y="0"/>
                </a:moveTo>
                <a:lnTo>
                  <a:pt x="5307429" y="0"/>
                </a:lnTo>
                <a:lnTo>
                  <a:pt x="5307429" y="5487003"/>
                </a:lnTo>
                <a:lnTo>
                  <a:pt x="0" y="5487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1447829" y="2875901"/>
            <a:ext cx="6489398" cy="648939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w="104775" cap="sq">
              <a:gradFill>
                <a:gsLst>
                  <a:gs pos="0">
                    <a:srgbClr val="7B67F0">
                      <a:alpha val="100000"/>
                    </a:srgbClr>
                  </a:gs>
                  <a:gs pos="50000">
                    <a:srgbClr val="FFAFFF">
                      <a:alpha val="100000"/>
                    </a:srgbClr>
                  </a:gs>
                  <a:gs pos="100000">
                    <a:srgbClr val="AFEE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id="11" name="Freeform 11"/>
          <p:cNvSpPr/>
          <p:nvPr/>
        </p:nvSpPr>
        <p:spPr>
          <a:xfrm>
            <a:off x="15283101" y="7405140"/>
            <a:ext cx="2654125" cy="2654125"/>
          </a:xfrm>
          <a:custGeom>
            <a:avLst/>
            <a:gdLst/>
            <a:ahLst/>
            <a:cxnLst/>
            <a:rect l="l" t="t" r="r" b="b"/>
            <a:pathLst>
              <a:path w="2654125" h="2654125">
                <a:moveTo>
                  <a:pt x="0" y="0"/>
                </a:moveTo>
                <a:lnTo>
                  <a:pt x="2654126" y="0"/>
                </a:lnTo>
                <a:lnTo>
                  <a:pt x="2654126" y="2654125"/>
                </a:lnTo>
                <a:lnTo>
                  <a:pt x="0" y="26541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705084" y="7430776"/>
            <a:ext cx="2628489" cy="2628489"/>
          </a:xfrm>
          <a:custGeom>
            <a:avLst/>
            <a:gdLst/>
            <a:ahLst/>
            <a:cxnLst/>
            <a:rect l="l" t="t" r="r" b="b"/>
            <a:pathLst>
              <a:path w="2628489" h="2628489">
                <a:moveTo>
                  <a:pt x="0" y="0"/>
                </a:moveTo>
                <a:lnTo>
                  <a:pt x="2628489" y="0"/>
                </a:lnTo>
                <a:lnTo>
                  <a:pt x="2628489" y="2628489"/>
                </a:lnTo>
                <a:lnTo>
                  <a:pt x="0" y="26284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687443" y="2213126"/>
            <a:ext cx="6932204" cy="1224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97"/>
              </a:lnSpc>
            </a:pPr>
            <a:r>
              <a:rPr lang="en-US" sz="10110" b="1" spc="-636">
                <a:solidFill>
                  <a:srgbClr val="A5F7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RAM y placa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45265" y="4551600"/>
            <a:ext cx="7456557" cy="591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3"/>
              </a:lnSpc>
            </a:pPr>
            <a:r>
              <a:rPr lang="en-US" sz="2303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Kingston ValueRAM DDR4 3200MHz 4GB CL22 (x2 módulos)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87443" y="3969973"/>
            <a:ext cx="3036124" cy="43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3164" lvl="1" indent="-386582" algn="l">
              <a:lnSpc>
                <a:spcPts val="3151"/>
              </a:lnSpc>
              <a:buFont typeface="Arial"/>
              <a:buChar char="•"/>
            </a:pPr>
            <a:r>
              <a:rPr lang="en-US" sz="3581" b="1" spc="-225">
                <a:solidFill>
                  <a:srgbClr val="FF8EDA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RAM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45265" y="5305425"/>
            <a:ext cx="7456557" cy="388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903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116,00 €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45265" y="5731590"/>
            <a:ext cx="7456557" cy="591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3"/>
              </a:lnSpc>
            </a:pPr>
            <a:r>
              <a:rPr lang="en-US" sz="2303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Tipo DDR4 y soportada por la placa base. Dos módulos para Dual Channel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87443" y="6687428"/>
            <a:ext cx="4105029" cy="43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3164" lvl="1" indent="-386582" algn="l">
              <a:lnSpc>
                <a:spcPts val="3151"/>
              </a:lnSpc>
              <a:buFont typeface="Arial"/>
              <a:buChar char="•"/>
            </a:pPr>
            <a:r>
              <a:rPr lang="en-US" sz="3581" b="1" spc="-225">
                <a:solidFill>
                  <a:srgbClr val="A5F7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Placa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445265" y="7271115"/>
            <a:ext cx="7456557" cy="30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3"/>
              </a:lnSpc>
            </a:pPr>
            <a:r>
              <a:rPr lang="en-US" sz="2303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Gigabyte A520M K V2 (Micro ATX)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45265" y="7739190"/>
            <a:ext cx="7456557" cy="388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903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49,95 €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45265" y="8254174"/>
            <a:ext cx="7456557" cy="30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3"/>
              </a:lnSpc>
            </a:pPr>
            <a:r>
              <a:rPr lang="en-US" sz="2303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Socket AM4, soporta RAM DDR4 y SSD SATA/NVMe.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928985" y="3157588"/>
            <a:ext cx="14975333" cy="1497533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7B67F0">
                      <a:alpha val="100000"/>
                    </a:srgbClr>
                  </a:gs>
                  <a:gs pos="50000">
                    <a:srgbClr val="FFAFFF">
                      <a:alpha val="100000"/>
                    </a:srgbClr>
                  </a:gs>
                  <a:gs pos="100000">
                    <a:srgbClr val="AFEE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128077" y="4147059"/>
            <a:ext cx="13373518" cy="1337351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0098CF">
                      <a:alpha val="100000"/>
                    </a:srgbClr>
                  </a:gs>
                  <a:gs pos="50000">
                    <a:srgbClr val="6171BB">
                      <a:alpha val="100000"/>
                    </a:srgbClr>
                  </a:gs>
                  <a:gs pos="100000">
                    <a:srgbClr val="E6EB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7822791">
            <a:off x="9909904" y="3654887"/>
            <a:ext cx="16756192" cy="16756192"/>
          </a:xfrm>
          <a:custGeom>
            <a:avLst/>
            <a:gdLst/>
            <a:ahLst/>
            <a:cxnLst/>
            <a:rect l="l" t="t" r="r" b="b"/>
            <a:pathLst>
              <a:path w="16756192" h="16756192">
                <a:moveTo>
                  <a:pt x="0" y="0"/>
                </a:moveTo>
                <a:lnTo>
                  <a:pt x="16756192" y="0"/>
                </a:lnTo>
                <a:lnTo>
                  <a:pt x="16756192" y="16756192"/>
                </a:lnTo>
                <a:lnTo>
                  <a:pt x="0" y="167561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2234797" y="4945863"/>
            <a:ext cx="11586956" cy="1158695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ED47E6">
                      <a:alpha val="100000"/>
                    </a:srgbClr>
                  </a:gs>
                  <a:gs pos="50000">
                    <a:srgbClr val="FD5EA5">
                      <a:alpha val="100000"/>
                    </a:srgbClr>
                  </a:gs>
                  <a:gs pos="100000">
                    <a:srgbClr val="FFAED2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00251" y="5981815"/>
            <a:ext cx="9326880" cy="4663440"/>
            <a:chOff x="0" y="0"/>
            <a:chExt cx="6350000" cy="3175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3175000"/>
            </a:xfrm>
            <a:custGeom>
              <a:avLst/>
              <a:gdLst/>
              <a:ahLst/>
              <a:cxnLst/>
              <a:rect l="l" t="t" r="r" b="b"/>
              <a:pathLst>
                <a:path w="6350000" h="3175000">
                  <a:moveTo>
                    <a:pt x="6350000" y="3175000"/>
                  </a:moveTo>
                  <a:lnTo>
                    <a:pt x="0" y="3175000"/>
                  </a:lnTo>
                  <a:cubicBezTo>
                    <a:pt x="0" y="1421498"/>
                    <a:pt x="1421498" y="0"/>
                    <a:pt x="3175000" y="0"/>
                  </a:cubicBezTo>
                  <a:cubicBezTo>
                    <a:pt x="4928502" y="0"/>
                    <a:pt x="6350000" y="1421498"/>
                    <a:pt x="6350000" y="3175000"/>
                  </a:cubicBezTo>
                  <a:close/>
                </a:path>
              </a:pathLst>
            </a:custGeom>
            <a:blipFill>
              <a:blip r:embed="rId4"/>
              <a:stretch>
                <a:fillRect t="-79449" b="-79449"/>
              </a:stretch>
            </a:blipFill>
            <a:ln w="95250" cap="sq">
              <a:gradFill>
                <a:gsLst>
                  <a:gs pos="0">
                    <a:srgbClr val="ED47E6">
                      <a:alpha val="100000"/>
                    </a:srgbClr>
                  </a:gs>
                  <a:gs pos="50000">
                    <a:srgbClr val="FD5EA5">
                      <a:alpha val="100000"/>
                    </a:srgbClr>
                  </a:gs>
                  <a:gs pos="100000">
                    <a:srgbClr val="FFAED2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-3938787" y="5981815"/>
            <a:ext cx="9326880" cy="4663440"/>
            <a:chOff x="0" y="0"/>
            <a:chExt cx="6350000" cy="3175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3175000"/>
            </a:xfrm>
            <a:custGeom>
              <a:avLst/>
              <a:gdLst/>
              <a:ahLst/>
              <a:cxnLst/>
              <a:rect l="l" t="t" r="r" b="b"/>
              <a:pathLst>
                <a:path w="6350000" h="3175000">
                  <a:moveTo>
                    <a:pt x="6350000" y="3175000"/>
                  </a:moveTo>
                  <a:lnTo>
                    <a:pt x="0" y="3175000"/>
                  </a:lnTo>
                  <a:cubicBezTo>
                    <a:pt x="0" y="1421498"/>
                    <a:pt x="1421498" y="0"/>
                    <a:pt x="3175000" y="0"/>
                  </a:cubicBezTo>
                  <a:cubicBezTo>
                    <a:pt x="4928502" y="0"/>
                    <a:pt x="6350000" y="1421498"/>
                    <a:pt x="6350000" y="3175000"/>
                  </a:cubicBezTo>
                  <a:close/>
                </a:path>
              </a:pathLst>
            </a:custGeom>
            <a:blipFill>
              <a:blip r:embed="rId4"/>
              <a:stretch>
                <a:fillRect t="-79449" b="-79449"/>
              </a:stretch>
            </a:blipFill>
            <a:ln w="95250" cap="sq">
              <a:gradFill>
                <a:gsLst>
                  <a:gs pos="0">
                    <a:srgbClr val="ED47E6">
                      <a:alpha val="100000"/>
                    </a:srgbClr>
                  </a:gs>
                  <a:gs pos="50000">
                    <a:srgbClr val="FD5EA5">
                      <a:alpha val="100000"/>
                    </a:srgbClr>
                  </a:gs>
                  <a:gs pos="100000">
                    <a:srgbClr val="FFAED2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2528700" y="7991642"/>
            <a:ext cx="9326880" cy="4663440"/>
            <a:chOff x="0" y="0"/>
            <a:chExt cx="6350000" cy="3175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3175000"/>
            </a:xfrm>
            <a:custGeom>
              <a:avLst/>
              <a:gdLst/>
              <a:ahLst/>
              <a:cxnLst/>
              <a:rect l="l" t="t" r="r" b="b"/>
              <a:pathLst>
                <a:path w="6350000" h="3175000">
                  <a:moveTo>
                    <a:pt x="6350000" y="3175000"/>
                  </a:moveTo>
                  <a:lnTo>
                    <a:pt x="0" y="3175000"/>
                  </a:lnTo>
                  <a:cubicBezTo>
                    <a:pt x="0" y="1421498"/>
                    <a:pt x="1421498" y="0"/>
                    <a:pt x="3175000" y="0"/>
                  </a:cubicBezTo>
                  <a:cubicBezTo>
                    <a:pt x="4928502" y="0"/>
                    <a:pt x="6350000" y="1421498"/>
                    <a:pt x="6350000" y="3175000"/>
                  </a:cubicBezTo>
                  <a:close/>
                </a:path>
              </a:pathLst>
            </a:custGeom>
            <a:blipFill>
              <a:blip r:embed="rId4"/>
              <a:stretch>
                <a:fillRect t="-79449" b="-79449"/>
              </a:stretch>
            </a:blipFill>
            <a:ln w="95250" cap="sq">
              <a:gradFill>
                <a:gsLst>
                  <a:gs pos="0">
                    <a:srgbClr val="ED47E6">
                      <a:alpha val="100000"/>
                    </a:srgbClr>
                  </a:gs>
                  <a:gs pos="50000">
                    <a:srgbClr val="FD5EA5">
                      <a:alpha val="100000"/>
                    </a:srgbClr>
                  </a:gs>
                  <a:gs pos="100000">
                    <a:srgbClr val="FFAED2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id="18" name="Freeform 18"/>
          <p:cNvSpPr/>
          <p:nvPr/>
        </p:nvSpPr>
        <p:spPr>
          <a:xfrm>
            <a:off x="10363237" y="7581251"/>
            <a:ext cx="2473454" cy="2473454"/>
          </a:xfrm>
          <a:custGeom>
            <a:avLst/>
            <a:gdLst/>
            <a:ahLst/>
            <a:cxnLst/>
            <a:rect l="l" t="t" r="r" b="b"/>
            <a:pathLst>
              <a:path w="2473454" h="2473454">
                <a:moveTo>
                  <a:pt x="0" y="0"/>
                </a:moveTo>
                <a:lnTo>
                  <a:pt x="2473453" y="0"/>
                </a:lnTo>
                <a:lnTo>
                  <a:pt x="2473453" y="2473454"/>
                </a:lnTo>
                <a:lnTo>
                  <a:pt x="0" y="24734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2836690" y="7600803"/>
            <a:ext cx="2453902" cy="2453902"/>
          </a:xfrm>
          <a:custGeom>
            <a:avLst/>
            <a:gdLst/>
            <a:ahLst/>
            <a:cxnLst/>
            <a:rect l="l" t="t" r="r" b="b"/>
            <a:pathLst>
              <a:path w="2453902" h="2453902">
                <a:moveTo>
                  <a:pt x="0" y="0"/>
                </a:moveTo>
                <a:lnTo>
                  <a:pt x="2453902" y="0"/>
                </a:lnTo>
                <a:lnTo>
                  <a:pt x="2453902" y="2453902"/>
                </a:lnTo>
                <a:lnTo>
                  <a:pt x="0" y="24539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5290592" y="7600803"/>
            <a:ext cx="2453902" cy="2453902"/>
          </a:xfrm>
          <a:custGeom>
            <a:avLst/>
            <a:gdLst/>
            <a:ahLst/>
            <a:cxnLst/>
            <a:rect l="l" t="t" r="r" b="b"/>
            <a:pathLst>
              <a:path w="2453902" h="2453902">
                <a:moveTo>
                  <a:pt x="0" y="0"/>
                </a:moveTo>
                <a:lnTo>
                  <a:pt x="2453902" y="0"/>
                </a:lnTo>
                <a:lnTo>
                  <a:pt x="2453902" y="2453902"/>
                </a:lnTo>
                <a:lnTo>
                  <a:pt x="0" y="24539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586495" y="1251550"/>
            <a:ext cx="5879319" cy="2079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61"/>
              </a:lnSpc>
            </a:pPr>
            <a:r>
              <a:rPr lang="en-US" sz="8933" b="1" spc="-562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SSD, PSU, chasis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34724" y="1070932"/>
            <a:ext cx="7456557" cy="30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3"/>
              </a:lnSpc>
            </a:pPr>
            <a:r>
              <a:rPr lang="en-US" sz="2303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 Silicon Power Ace A55 128GB (SATA 2.5")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48427" y="487245"/>
            <a:ext cx="3036124" cy="43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3164" lvl="1" indent="-386582" algn="l">
              <a:lnSpc>
                <a:spcPts val="3151"/>
              </a:lnSpc>
              <a:buFont typeface="Arial"/>
              <a:buChar char="•"/>
            </a:pPr>
            <a:r>
              <a:rPr lang="en-US" sz="3581" b="1" spc="-225">
                <a:solidFill>
                  <a:srgbClr val="FF8EDA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SSD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831443" y="1539007"/>
            <a:ext cx="7456557" cy="388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903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35,99 €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831443" y="2079472"/>
            <a:ext cx="7456557" cy="591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3"/>
              </a:lnSpc>
            </a:pPr>
            <a:r>
              <a:rPr lang="en-US" sz="2303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Rápido arranque del SO. Archivos pesados irán a la nube.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33091" y="2899972"/>
            <a:ext cx="4105029" cy="43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3164" lvl="1" indent="-386582" algn="l">
              <a:lnSpc>
                <a:spcPts val="3151"/>
              </a:lnSpc>
              <a:buFont typeface="Arial"/>
              <a:buChar char="•"/>
            </a:pPr>
            <a:r>
              <a:rPr lang="en-US" sz="3581" b="1" spc="-225">
                <a:solidFill>
                  <a:srgbClr val="A5F7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PSU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734724" y="3454125"/>
            <a:ext cx="7456557" cy="30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3"/>
              </a:lnSpc>
            </a:pPr>
            <a:r>
              <a:rPr lang="en-US" sz="2303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MSI MAG A550BN 550W (80 Plus Bronze)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734724" y="3887290"/>
            <a:ext cx="7456557" cy="388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903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49,90 €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734724" y="4375981"/>
            <a:ext cx="7456557" cy="591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3"/>
              </a:lnSpc>
            </a:pPr>
            <a:r>
              <a:rPr lang="en-US" sz="2303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Certificación 80+ Bronze y protecciones eléctricas. Potencia de sobra.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09025" y="5377689"/>
            <a:ext cx="4105029" cy="43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3164" lvl="1" indent="-386582" algn="l">
              <a:lnSpc>
                <a:spcPts val="3151"/>
              </a:lnSpc>
              <a:buFont typeface="Arial"/>
              <a:buChar char="•"/>
            </a:pPr>
            <a:r>
              <a:rPr lang="en-US" sz="3581" b="1" spc="-225">
                <a:solidFill>
                  <a:srgbClr val="FF8EDA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Chasis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710658" y="5931842"/>
            <a:ext cx="7456557" cy="30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3"/>
              </a:lnSpc>
            </a:pPr>
            <a:r>
              <a:rPr lang="en-US" sz="2303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Tacens Anima AC4 USB 3.0 (Micro ATX)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710658" y="6365006"/>
            <a:ext cx="7456557" cy="388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903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22,91 €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710658" y="6853697"/>
            <a:ext cx="7456557" cy="30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3"/>
              </a:lnSpc>
            </a:pPr>
            <a:r>
              <a:rPr lang="en-US" sz="2303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Formato compacto, completo y económico.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040844" y="-910048"/>
            <a:ext cx="9274740" cy="7605287"/>
          </a:xfrm>
          <a:custGeom>
            <a:avLst/>
            <a:gdLst/>
            <a:ahLst/>
            <a:cxnLst/>
            <a:rect l="l" t="t" r="r" b="b"/>
            <a:pathLst>
              <a:path w="9274740" h="7605287">
                <a:moveTo>
                  <a:pt x="0" y="0"/>
                </a:moveTo>
                <a:lnTo>
                  <a:pt x="9274740" y="0"/>
                </a:lnTo>
                <a:lnTo>
                  <a:pt x="9274740" y="7605287"/>
                </a:lnTo>
                <a:lnTo>
                  <a:pt x="0" y="760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4218604" y="-1214872"/>
            <a:ext cx="9274740" cy="7605287"/>
          </a:xfrm>
          <a:custGeom>
            <a:avLst/>
            <a:gdLst/>
            <a:ahLst/>
            <a:cxnLst/>
            <a:rect l="l" t="t" r="r" b="b"/>
            <a:pathLst>
              <a:path w="9274740" h="7605287">
                <a:moveTo>
                  <a:pt x="0" y="7605287"/>
                </a:moveTo>
                <a:lnTo>
                  <a:pt x="9274740" y="7605287"/>
                </a:lnTo>
                <a:lnTo>
                  <a:pt x="9274740" y="0"/>
                </a:lnTo>
                <a:lnTo>
                  <a:pt x="0" y="0"/>
                </a:lnTo>
                <a:lnTo>
                  <a:pt x="0" y="760528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4218604" y="6390415"/>
            <a:ext cx="9274740" cy="7605287"/>
          </a:xfrm>
          <a:custGeom>
            <a:avLst/>
            <a:gdLst/>
            <a:ahLst/>
            <a:cxnLst/>
            <a:rect l="l" t="t" r="r" b="b"/>
            <a:pathLst>
              <a:path w="9274740" h="7605287">
                <a:moveTo>
                  <a:pt x="0" y="7605287"/>
                </a:moveTo>
                <a:lnTo>
                  <a:pt x="9274740" y="7605287"/>
                </a:lnTo>
                <a:lnTo>
                  <a:pt x="9274740" y="0"/>
                </a:lnTo>
                <a:lnTo>
                  <a:pt x="0" y="0"/>
                </a:lnTo>
                <a:lnTo>
                  <a:pt x="0" y="760528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4218604" y="6390415"/>
            <a:ext cx="9274740" cy="7605287"/>
          </a:xfrm>
          <a:custGeom>
            <a:avLst/>
            <a:gdLst/>
            <a:ahLst/>
            <a:cxnLst/>
            <a:rect l="l" t="t" r="r" b="b"/>
            <a:pathLst>
              <a:path w="9274740" h="7605287">
                <a:moveTo>
                  <a:pt x="0" y="0"/>
                </a:moveTo>
                <a:lnTo>
                  <a:pt x="9274740" y="0"/>
                </a:lnTo>
                <a:lnTo>
                  <a:pt x="9274740" y="7605287"/>
                </a:lnTo>
                <a:lnTo>
                  <a:pt x="0" y="760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72235" y="3418455"/>
            <a:ext cx="740593" cy="562850"/>
          </a:xfrm>
          <a:custGeom>
            <a:avLst/>
            <a:gdLst/>
            <a:ahLst/>
            <a:cxnLst/>
            <a:rect l="l" t="t" r="r" b="b"/>
            <a:pathLst>
              <a:path w="740593" h="562850">
                <a:moveTo>
                  <a:pt x="0" y="0"/>
                </a:moveTo>
                <a:lnTo>
                  <a:pt x="740592" y="0"/>
                </a:lnTo>
                <a:lnTo>
                  <a:pt x="740592" y="562850"/>
                </a:lnTo>
                <a:lnTo>
                  <a:pt x="0" y="562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96571" y="1698888"/>
            <a:ext cx="12233622" cy="1427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91"/>
              </a:lnSpc>
            </a:pPr>
            <a:r>
              <a:rPr lang="en-US" sz="11694" b="1" spc="-736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Presupuesot final</a:t>
            </a:r>
          </a:p>
        </p:txBody>
      </p:sp>
      <p:sp>
        <p:nvSpPr>
          <p:cNvPr id="8" name="Freeform 8"/>
          <p:cNvSpPr/>
          <p:nvPr/>
        </p:nvSpPr>
        <p:spPr>
          <a:xfrm flipV="1">
            <a:off x="12621930" y="3418455"/>
            <a:ext cx="9274740" cy="7605287"/>
          </a:xfrm>
          <a:custGeom>
            <a:avLst/>
            <a:gdLst/>
            <a:ahLst/>
            <a:cxnLst/>
            <a:rect l="l" t="t" r="r" b="b"/>
            <a:pathLst>
              <a:path w="9274740" h="7605287">
                <a:moveTo>
                  <a:pt x="0" y="7605287"/>
                </a:moveTo>
                <a:lnTo>
                  <a:pt x="9274740" y="7605287"/>
                </a:lnTo>
                <a:lnTo>
                  <a:pt x="9274740" y="0"/>
                </a:lnTo>
                <a:lnTo>
                  <a:pt x="0" y="0"/>
                </a:lnTo>
                <a:lnTo>
                  <a:pt x="0" y="760528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621930" y="4625809"/>
            <a:ext cx="9274740" cy="7605287"/>
          </a:xfrm>
          <a:custGeom>
            <a:avLst/>
            <a:gdLst/>
            <a:ahLst/>
            <a:cxnLst/>
            <a:rect l="l" t="t" r="r" b="b"/>
            <a:pathLst>
              <a:path w="9274740" h="7605287">
                <a:moveTo>
                  <a:pt x="0" y="0"/>
                </a:moveTo>
                <a:lnTo>
                  <a:pt x="9274740" y="0"/>
                </a:lnTo>
                <a:lnTo>
                  <a:pt x="9274740" y="7605287"/>
                </a:lnTo>
                <a:lnTo>
                  <a:pt x="0" y="760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14485183" y="8531720"/>
            <a:ext cx="740593" cy="562850"/>
          </a:xfrm>
          <a:custGeom>
            <a:avLst/>
            <a:gdLst/>
            <a:ahLst/>
            <a:cxnLst/>
            <a:rect l="l" t="t" r="r" b="b"/>
            <a:pathLst>
              <a:path w="740593" h="562850">
                <a:moveTo>
                  <a:pt x="740593" y="0"/>
                </a:moveTo>
                <a:lnTo>
                  <a:pt x="0" y="0"/>
                </a:lnTo>
                <a:lnTo>
                  <a:pt x="0" y="562850"/>
                </a:lnTo>
                <a:lnTo>
                  <a:pt x="740593" y="562850"/>
                </a:lnTo>
                <a:lnTo>
                  <a:pt x="74059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621930" y="-1901401"/>
            <a:ext cx="9274740" cy="7605287"/>
          </a:xfrm>
          <a:custGeom>
            <a:avLst/>
            <a:gdLst/>
            <a:ahLst/>
            <a:cxnLst/>
            <a:rect l="l" t="t" r="r" b="b"/>
            <a:pathLst>
              <a:path w="9274740" h="7605287">
                <a:moveTo>
                  <a:pt x="0" y="0"/>
                </a:moveTo>
                <a:lnTo>
                  <a:pt x="9274740" y="0"/>
                </a:lnTo>
                <a:lnTo>
                  <a:pt x="9274740" y="7605287"/>
                </a:lnTo>
                <a:lnTo>
                  <a:pt x="0" y="760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V="1">
            <a:off x="12621930" y="-2979478"/>
            <a:ext cx="9274740" cy="7605287"/>
          </a:xfrm>
          <a:custGeom>
            <a:avLst/>
            <a:gdLst/>
            <a:ahLst/>
            <a:cxnLst/>
            <a:rect l="l" t="t" r="r" b="b"/>
            <a:pathLst>
              <a:path w="9274740" h="7605287">
                <a:moveTo>
                  <a:pt x="0" y="7605287"/>
                </a:moveTo>
                <a:lnTo>
                  <a:pt x="9274740" y="7605287"/>
                </a:lnTo>
                <a:lnTo>
                  <a:pt x="9274740" y="0"/>
                </a:lnTo>
                <a:lnTo>
                  <a:pt x="0" y="0"/>
                </a:lnTo>
                <a:lnTo>
                  <a:pt x="0" y="760528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061155" y="3699880"/>
            <a:ext cx="10165690" cy="4831840"/>
          </a:xfrm>
          <a:custGeom>
            <a:avLst/>
            <a:gdLst/>
            <a:ahLst/>
            <a:cxnLst/>
            <a:rect l="l" t="t" r="r" b="b"/>
            <a:pathLst>
              <a:path w="10165690" h="4831840">
                <a:moveTo>
                  <a:pt x="0" y="0"/>
                </a:moveTo>
                <a:lnTo>
                  <a:pt x="10165690" y="0"/>
                </a:lnTo>
                <a:lnTo>
                  <a:pt x="10165690" y="4831840"/>
                </a:lnTo>
                <a:lnTo>
                  <a:pt x="0" y="48318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93626" y="-645555"/>
            <a:ext cx="13652663" cy="1365266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C2D8">
                    <a:alpha val="100000"/>
                  </a:srgbClr>
                </a:gs>
                <a:gs pos="33333">
                  <a:srgbClr val="22626D">
                    <a:alpha val="100000"/>
                  </a:srgbClr>
                </a:gs>
                <a:gs pos="66667">
                  <a:srgbClr val="131416">
                    <a:alpha val="100000"/>
                  </a:srgbClr>
                </a:gs>
                <a:gs pos="100000">
                  <a:srgbClr val="13141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158656" y="1389178"/>
            <a:ext cx="9583198" cy="958319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AFFE6">
                    <a:alpha val="100000"/>
                  </a:srgbClr>
                </a:gs>
                <a:gs pos="33333">
                  <a:srgbClr val="3A8B7E">
                    <a:alpha val="100000"/>
                  </a:srgbClr>
                </a:gs>
                <a:gs pos="66667">
                  <a:srgbClr val="131416">
                    <a:alpha val="100000"/>
                  </a:srgbClr>
                </a:gs>
                <a:gs pos="100000">
                  <a:srgbClr val="13141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7467212">
            <a:off x="6865923" y="1289044"/>
            <a:ext cx="16756192" cy="16756192"/>
          </a:xfrm>
          <a:custGeom>
            <a:avLst/>
            <a:gdLst/>
            <a:ahLst/>
            <a:cxnLst/>
            <a:rect l="l" t="t" r="r" b="b"/>
            <a:pathLst>
              <a:path w="16756192" h="16756192">
                <a:moveTo>
                  <a:pt x="0" y="0"/>
                </a:moveTo>
                <a:lnTo>
                  <a:pt x="16756192" y="0"/>
                </a:lnTo>
                <a:lnTo>
                  <a:pt x="16756192" y="16756192"/>
                </a:lnTo>
                <a:lnTo>
                  <a:pt x="0" y="167561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219958" y="417487"/>
            <a:ext cx="3282127" cy="3282127"/>
          </a:xfrm>
          <a:custGeom>
            <a:avLst/>
            <a:gdLst/>
            <a:ahLst/>
            <a:cxnLst/>
            <a:rect l="l" t="t" r="r" b="b"/>
            <a:pathLst>
              <a:path w="3282127" h="3282127">
                <a:moveTo>
                  <a:pt x="0" y="0"/>
                </a:moveTo>
                <a:lnTo>
                  <a:pt x="3282127" y="0"/>
                </a:lnTo>
                <a:lnTo>
                  <a:pt x="3282127" y="3282127"/>
                </a:lnTo>
                <a:lnTo>
                  <a:pt x="0" y="32821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9865050" y="4062518"/>
            <a:ext cx="7637035" cy="6131708"/>
            <a:chOff x="0" y="0"/>
            <a:chExt cx="7467600" cy="59956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2434265" y="5210810"/>
              <a:ext cx="2596530" cy="786130"/>
            </a:xfrm>
            <a:custGeom>
              <a:avLst/>
              <a:gdLst/>
              <a:ahLst/>
              <a:cxnLst/>
              <a:rect l="l" t="t" r="r" b="b"/>
              <a:pathLst>
                <a:path w="2596530" h="7861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5"/>
              <a:stretch>
                <a:fillRect t="-39006" b="-39006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028700" y="865349"/>
            <a:ext cx="7255679" cy="1390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23"/>
              </a:lnSpc>
            </a:pPr>
            <a:r>
              <a:rPr lang="en-US" sz="11390" b="1" spc="-717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MINI PC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360682"/>
            <a:ext cx="10252435" cy="775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9"/>
              </a:lnSpc>
            </a:pPr>
            <a:r>
              <a:rPr lang="en-US" sz="5799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465,00 €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3250986"/>
            <a:ext cx="3218408" cy="811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Geekom A5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4205393"/>
            <a:ext cx="7577584" cy="4939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Ventajas principales (Pros):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Rendimiento muy bueno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Más memoria y espacio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Windows 11 Pro y Wi-Fi 6 incluidos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Ocupa poco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Desventajas (Contras):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Coste inicial mayor (+120 € por equipo).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Ventilador más ruidoso bajo cargas pesadas.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Fuente de alimentación externa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52655" y="2988024"/>
            <a:ext cx="1260281" cy="5415271"/>
          </a:xfrm>
          <a:custGeom>
            <a:avLst/>
            <a:gdLst/>
            <a:ahLst/>
            <a:cxnLst/>
            <a:rect l="l" t="t" r="r" b="b"/>
            <a:pathLst>
              <a:path w="1260281" h="5415271">
                <a:moveTo>
                  <a:pt x="0" y="0"/>
                </a:moveTo>
                <a:lnTo>
                  <a:pt x="1260281" y="0"/>
                </a:lnTo>
                <a:lnTo>
                  <a:pt x="1260281" y="5415272"/>
                </a:lnTo>
                <a:lnTo>
                  <a:pt x="0" y="5415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4224483" y="2988024"/>
            <a:ext cx="1260281" cy="5415271"/>
          </a:xfrm>
          <a:custGeom>
            <a:avLst/>
            <a:gdLst/>
            <a:ahLst/>
            <a:cxnLst/>
            <a:rect l="l" t="t" r="r" b="b"/>
            <a:pathLst>
              <a:path w="1260281" h="5415271">
                <a:moveTo>
                  <a:pt x="0" y="5415272"/>
                </a:moveTo>
                <a:lnTo>
                  <a:pt x="1260281" y="5415272"/>
                </a:lnTo>
                <a:lnTo>
                  <a:pt x="1260281" y="0"/>
                </a:lnTo>
                <a:lnTo>
                  <a:pt x="0" y="0"/>
                </a:lnTo>
                <a:lnTo>
                  <a:pt x="0" y="541527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99019" y="2988024"/>
            <a:ext cx="1260281" cy="5415271"/>
          </a:xfrm>
          <a:custGeom>
            <a:avLst/>
            <a:gdLst/>
            <a:ahLst/>
            <a:cxnLst/>
            <a:rect l="l" t="t" r="r" b="b"/>
            <a:pathLst>
              <a:path w="1260281" h="5415271">
                <a:moveTo>
                  <a:pt x="0" y="0"/>
                </a:moveTo>
                <a:lnTo>
                  <a:pt x="1260281" y="0"/>
                </a:lnTo>
                <a:lnTo>
                  <a:pt x="1260281" y="5415272"/>
                </a:lnTo>
                <a:lnTo>
                  <a:pt x="0" y="54152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57278" y="3678101"/>
            <a:ext cx="10786811" cy="5301709"/>
          </a:xfrm>
          <a:custGeom>
            <a:avLst/>
            <a:gdLst/>
            <a:ahLst/>
            <a:cxnLst/>
            <a:rect l="l" t="t" r="r" b="b"/>
            <a:pathLst>
              <a:path w="10786811" h="5301709">
                <a:moveTo>
                  <a:pt x="0" y="0"/>
                </a:moveTo>
                <a:lnTo>
                  <a:pt x="10786811" y="0"/>
                </a:lnTo>
                <a:lnTo>
                  <a:pt x="10786811" y="5301709"/>
                </a:lnTo>
                <a:lnTo>
                  <a:pt x="0" y="53017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57278" y="2105450"/>
            <a:ext cx="8018947" cy="126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13"/>
              </a:lnSpc>
            </a:pPr>
            <a:r>
              <a:rPr lang="en-US" sz="10355" b="1" spc="-652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Comparación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1075" y="9246510"/>
            <a:ext cx="16429183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Conclusión: la opción por piezas es mejor en temas de precio y si no se necesita mucha potencia, pero el mini PC es muchisimo mejor calidad precio, aunque este sea batante más caro. Todo depende del puesto de trabajo que lo use.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0956" y="-2449544"/>
            <a:ext cx="15186088" cy="1518608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" cap="sq">
              <a:gradFill>
                <a:gsLst>
                  <a:gs pos="0">
                    <a:srgbClr val="7B67F0">
                      <a:alpha val="100000"/>
                    </a:srgbClr>
                  </a:gs>
                  <a:gs pos="50000">
                    <a:srgbClr val="FFAFFF">
                      <a:alpha val="100000"/>
                    </a:srgbClr>
                  </a:gs>
                  <a:gs pos="100000">
                    <a:srgbClr val="AFEE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363135" y="-1637365"/>
            <a:ext cx="13561729" cy="135617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" cap="sq">
              <a:gradFill>
                <a:gsLst>
                  <a:gs pos="0">
                    <a:srgbClr val="0098CF">
                      <a:alpha val="100000"/>
                    </a:srgbClr>
                  </a:gs>
                  <a:gs pos="50000">
                    <a:srgbClr val="6171BB">
                      <a:alpha val="100000"/>
                    </a:srgbClr>
                  </a:gs>
                  <a:gs pos="100000">
                    <a:srgbClr val="E6EB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-3223252" y="5095875"/>
            <a:ext cx="6492240" cy="0"/>
          </a:xfrm>
          <a:prstGeom prst="line">
            <a:avLst/>
          </a:prstGeom>
          <a:ln w="95250" cap="flat">
            <a:gradFill>
              <a:gsLst>
                <a:gs pos="0">
                  <a:srgbClr val="ED47E6">
                    <a:alpha val="100000"/>
                  </a:srgbClr>
                </a:gs>
                <a:gs pos="50000">
                  <a:srgbClr val="FD5EA5">
                    <a:alpha val="100000"/>
                  </a:srgbClr>
                </a:gs>
                <a:gs pos="100000">
                  <a:srgbClr val="FFAED2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3268988" y="-731512"/>
            <a:ext cx="11750025" cy="1175002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" cap="sq">
              <a:gradFill>
                <a:gsLst>
                  <a:gs pos="0">
                    <a:srgbClr val="ED47E6">
                      <a:alpha val="100000"/>
                    </a:srgbClr>
                  </a:gs>
                  <a:gs pos="50000">
                    <a:srgbClr val="FD5EA5">
                      <a:alpha val="100000"/>
                    </a:srgbClr>
                  </a:gs>
                  <a:gs pos="100000">
                    <a:srgbClr val="FFAED2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 flipH="1">
            <a:off x="-4129105" y="5579821"/>
            <a:ext cx="6492240" cy="0"/>
          </a:xfrm>
          <a:prstGeom prst="line">
            <a:avLst/>
          </a:prstGeom>
          <a:ln w="95250" cap="flat">
            <a:gradFill>
              <a:gsLst>
                <a:gs pos="0">
                  <a:srgbClr val="0098CF">
                    <a:alpha val="100000"/>
                  </a:srgbClr>
                </a:gs>
                <a:gs pos="50000">
                  <a:srgbClr val="6171BB">
                    <a:alpha val="100000"/>
                  </a:srgbClr>
                </a:gs>
                <a:gs pos="100000">
                  <a:srgbClr val="E6EBFF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H="1">
            <a:off x="-4903184" y="6067185"/>
            <a:ext cx="6492240" cy="0"/>
          </a:xfrm>
          <a:prstGeom prst="line">
            <a:avLst/>
          </a:prstGeom>
          <a:ln w="95250" cap="flat">
            <a:gradFill>
              <a:gsLst>
                <a:gs pos="0">
                  <a:srgbClr val="7B67F0">
                    <a:alpha val="100000"/>
                  </a:srgbClr>
                </a:gs>
                <a:gs pos="50000">
                  <a:srgbClr val="FFAFFF">
                    <a:alpha val="100000"/>
                  </a:srgbClr>
                </a:gs>
                <a:gs pos="100000">
                  <a:srgbClr val="AFEEFF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15019012" y="5048250"/>
            <a:ext cx="6492240" cy="0"/>
          </a:xfrm>
          <a:prstGeom prst="line">
            <a:avLst/>
          </a:prstGeom>
          <a:ln w="95250" cap="flat">
            <a:gradFill>
              <a:gsLst>
                <a:gs pos="0">
                  <a:srgbClr val="ED47E6">
                    <a:alpha val="100000"/>
                  </a:srgbClr>
                </a:gs>
                <a:gs pos="50000">
                  <a:srgbClr val="FD5EA5">
                    <a:alpha val="100000"/>
                  </a:srgbClr>
                </a:gs>
                <a:gs pos="100000">
                  <a:srgbClr val="FFAED2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flipH="1">
            <a:off x="15905815" y="5532196"/>
            <a:ext cx="6492240" cy="0"/>
          </a:xfrm>
          <a:prstGeom prst="line">
            <a:avLst/>
          </a:prstGeom>
          <a:ln w="95250" cap="flat">
            <a:gradFill>
              <a:gsLst>
                <a:gs pos="0">
                  <a:srgbClr val="0098CF">
                    <a:alpha val="100000"/>
                  </a:srgbClr>
                </a:gs>
                <a:gs pos="50000">
                  <a:srgbClr val="6171BB">
                    <a:alpha val="100000"/>
                  </a:srgbClr>
                </a:gs>
                <a:gs pos="100000">
                  <a:srgbClr val="E6EBFF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flipH="1">
            <a:off x="16670369" y="6114810"/>
            <a:ext cx="6492240" cy="0"/>
          </a:xfrm>
          <a:prstGeom prst="line">
            <a:avLst/>
          </a:prstGeom>
          <a:ln w="95250" cap="flat">
            <a:gradFill>
              <a:gsLst>
                <a:gs pos="0">
                  <a:srgbClr val="7B67F0">
                    <a:alpha val="100000"/>
                  </a:srgbClr>
                </a:gs>
                <a:gs pos="50000">
                  <a:srgbClr val="FFAFFF">
                    <a:alpha val="100000"/>
                  </a:srgbClr>
                </a:gs>
                <a:gs pos="100000">
                  <a:srgbClr val="AFEEFF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4731980" y="4087569"/>
            <a:ext cx="1492252" cy="1492252"/>
          </a:xfrm>
          <a:custGeom>
            <a:avLst/>
            <a:gdLst/>
            <a:ahLst/>
            <a:cxnLst/>
            <a:rect l="l" t="t" r="r" b="b"/>
            <a:pathLst>
              <a:path w="1492252" h="1492252">
                <a:moveTo>
                  <a:pt x="0" y="0"/>
                </a:moveTo>
                <a:lnTo>
                  <a:pt x="1492251" y="0"/>
                </a:lnTo>
                <a:lnTo>
                  <a:pt x="1492251" y="1492252"/>
                </a:lnTo>
                <a:lnTo>
                  <a:pt x="0" y="1492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7274281" y="1333500"/>
            <a:ext cx="3739437" cy="1860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47"/>
              </a:lnSpc>
            </a:pPr>
            <a:r>
              <a:rPr lang="en-US" sz="13121" b="1" spc="-826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¡Fin!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78105" y="6402147"/>
            <a:ext cx="7331789" cy="802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9"/>
              </a:lnSpc>
            </a:pPr>
            <a:r>
              <a:rPr lang="en-US" sz="6099" b="1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Gracias por ver</a:t>
            </a:r>
          </a:p>
        </p:txBody>
      </p:sp>
      <p:sp>
        <p:nvSpPr>
          <p:cNvPr id="20" name="Freeform 20"/>
          <p:cNvSpPr/>
          <p:nvPr/>
        </p:nvSpPr>
        <p:spPr>
          <a:xfrm>
            <a:off x="12063769" y="4039944"/>
            <a:ext cx="1492252" cy="1492252"/>
          </a:xfrm>
          <a:custGeom>
            <a:avLst/>
            <a:gdLst/>
            <a:ahLst/>
            <a:cxnLst/>
            <a:rect l="l" t="t" r="r" b="b"/>
            <a:pathLst>
              <a:path w="1492252" h="1492252">
                <a:moveTo>
                  <a:pt x="0" y="0"/>
                </a:moveTo>
                <a:lnTo>
                  <a:pt x="1492251" y="0"/>
                </a:lnTo>
                <a:lnTo>
                  <a:pt x="1492251" y="1492252"/>
                </a:lnTo>
                <a:lnTo>
                  <a:pt x="0" y="1492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380</Words>
  <Application>Microsoft Office PowerPoint</Application>
  <PresentationFormat>Personalizado</PresentationFormat>
  <Paragraphs>55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Arial Unicode Bold</vt:lpstr>
      <vt:lpstr>Canva Sans</vt:lpstr>
      <vt:lpstr>Arial Unicode</vt:lpstr>
      <vt:lpstr>Canva Sans Bold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reto - PC oficina</dc:title>
  <cp:lastModifiedBy>yo</cp:lastModifiedBy>
  <cp:revision>2</cp:revision>
  <dcterms:created xsi:type="dcterms:W3CDTF">2006-08-16T00:00:00Z</dcterms:created>
  <dcterms:modified xsi:type="dcterms:W3CDTF">2026-02-19T11:29:06Z</dcterms:modified>
  <dc:identifier>DAHBwXSG92k</dc:identifier>
</cp:coreProperties>
</file>